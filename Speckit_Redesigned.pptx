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72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1463040"/>
            <a:ext cx="5486400" cy="54864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 in Daily Life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Code — No Tech Degree Required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FB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Journey Through AI-Assisted Development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is Speckit?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4434840"/>
            <a:ext cx="1554480" cy="4114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434840"/>
            <a:ext cx="1554480" cy="4114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Workflow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4434840"/>
            <a:ext cx="1554480" cy="4114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Demo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4434840"/>
            <a:ext cx="1554480" cy="41148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Speckit?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840480" cy="3931920"/>
          </a:xfrm>
          <a:prstGeom prst="rect">
            <a:avLst/>
          </a:prstGeom>
          <a:solidFill>
            <a:srgbClr val="021B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8872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383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</a:rPr>
              <a:t>GitHub's AI-Assisted Spec-Driven Toolkit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0" y="914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You describe </a:t>
            </a: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</a:t>
            </a: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Speckit figures out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</a:t>
            </a:r>
            <a:r>
              <a:rPr lang="en-US" sz="1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it.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1965960"/>
            <a:ext cx="4206240" cy="54864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🧠  Write requirements in plain language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624328"/>
            <a:ext cx="4206240" cy="54864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624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🤖  AI generates the development plan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3282696"/>
            <a:ext cx="4206240" cy="54864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32826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💻  Code is produced from your spec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0" y="3941064"/>
            <a:ext cx="4206240" cy="54864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39410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</a:rPr>
              <a:t>👥  Everyone — dev or not — contributes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B5CC"/>
                </a:solidFill>
              </a:rPr>
              <a:t>"Everybody can code"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Spec-Driven Development?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840480" cy="3840480"/>
          </a:xfrm>
          <a:prstGeom prst="rect">
            <a:avLst/>
          </a:prstGeom>
          <a:solidFill>
            <a:srgbClr val="2A0F0F"/>
          </a:solidFill>
          <a:ln w="12700">
            <a:solidFill>
              <a:srgbClr val="4A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E050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Speckit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D2"/>
                </a:solidFill>
              </a:rPr>
              <a:t>• AI guesses what you need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D2"/>
                </a:solidFill>
              </a:rPr>
              <a:t>• Wrong features get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D2"/>
                </a:solidFill>
              </a:rPr>
              <a:t>• Teams misalign mid-project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D2"/>
                </a:solidFill>
              </a:rPr>
              <a:t>• Rework is expensive &amp; slow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DD2"/>
                </a:solidFill>
              </a:rPr>
              <a:t>• Non-tech staff are excluded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840480" cy="3840480"/>
          </a:xfrm>
          <a:prstGeom prst="rect">
            <a:avLst/>
          </a:prstGeom>
          <a:solidFill>
            <a:srgbClr val="0A2015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solidFill>
            <a:srgbClr val="0D6B3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Speckit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</a:rPr>
              <a:t>• Plain-language specs drive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993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</a:rPr>
              <a:t>• Build the right thing, first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5237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</a:rPr>
              <a:t>• Everyone aligned from day 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0540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</a:rPr>
              <a:t>• Iterative spec updates are easy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D6A7"/>
                </a:solidFill>
              </a:rPr>
              <a:t>• PMs &amp; domain experts contribute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DD3"/>
                </a:solidFill>
              </a:rPr>
              <a:t>Think of it as: Blueprint Before Building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Speckit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88720" cy="1188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987552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103120"/>
            <a:ext cx="914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1. Constitution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</a:rPr>
              <a:t>Set project rules &amp; principles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54480" y="1444752"/>
            <a:ext cx="228600" cy="109728"/>
          </a:xfrm>
          <a:prstGeom prst="rect">
            <a:avLst/>
          </a:prstGeom>
          <a:solidFill>
            <a:srgbClr val="9ECDE0"/>
          </a:solidFill>
          <a:ln/>
        </p:spPr>
      </p:sp>
      <p:sp>
        <p:nvSpPr>
          <p:cNvPr id="11" name="Text 8"/>
          <p:cNvSpPr/>
          <p:nvPr/>
        </p:nvSpPr>
        <p:spPr>
          <a:xfrm>
            <a:off x="170078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DE0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914400"/>
            <a:ext cx="1188720" cy="1188720"/>
          </a:xfrm>
          <a:prstGeom prst="rect">
            <a:avLst/>
          </a:prstGeom>
          <a:solidFill>
            <a:srgbClr val="0D7E9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987552"/>
            <a:ext cx="685800" cy="685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331720" y="2103120"/>
            <a:ext cx="91440" cy="457200"/>
          </a:xfrm>
          <a:prstGeom prst="rect">
            <a:avLst/>
          </a:prstGeom>
          <a:solidFill>
            <a:srgbClr val="0D7E9B"/>
          </a:solidFill>
          <a:ln/>
        </p:spPr>
      </p:sp>
      <p:sp>
        <p:nvSpPr>
          <p:cNvPr id="15" name="Text 11"/>
          <p:cNvSpPr/>
          <p:nvPr/>
        </p:nvSpPr>
        <p:spPr>
          <a:xfrm>
            <a:off x="178308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E9B"/>
                </a:solidFill>
              </a:rPr>
              <a:t>2. Specify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78308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</a:rPr>
              <a:t>Describe the feature in plain words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971800" y="1444752"/>
            <a:ext cx="228600" cy="109728"/>
          </a:xfrm>
          <a:prstGeom prst="rect">
            <a:avLst/>
          </a:prstGeom>
          <a:solidFill>
            <a:srgbClr val="9ECDE0"/>
          </a:solidFill>
          <a:ln/>
        </p:spPr>
      </p:sp>
      <p:sp>
        <p:nvSpPr>
          <p:cNvPr id="18" name="Text 14"/>
          <p:cNvSpPr/>
          <p:nvPr/>
        </p:nvSpPr>
        <p:spPr>
          <a:xfrm>
            <a:off x="311810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DE0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00400" y="914400"/>
            <a:ext cx="1188720" cy="1188720"/>
          </a:xfrm>
          <a:prstGeom prst="rect">
            <a:avLst/>
          </a:prstGeom>
          <a:solidFill>
            <a:srgbClr val="149DB5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987552"/>
            <a:ext cx="685800" cy="685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749040" y="2103120"/>
            <a:ext cx="91440" cy="457200"/>
          </a:xfrm>
          <a:prstGeom prst="rect">
            <a:avLst/>
          </a:prstGeom>
          <a:solidFill>
            <a:srgbClr val="149DB5"/>
          </a:solidFill>
          <a:ln/>
        </p:spPr>
      </p:sp>
      <p:sp>
        <p:nvSpPr>
          <p:cNvPr id="22" name="Text 17"/>
          <p:cNvSpPr/>
          <p:nvPr/>
        </p:nvSpPr>
        <p:spPr>
          <a:xfrm>
            <a:off x="320040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DB5"/>
                </a:solidFill>
              </a:rPr>
              <a:t>3. Clarify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0040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</a:rPr>
              <a:t>AI asks clarifying questions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389120" y="1444752"/>
            <a:ext cx="228600" cy="109728"/>
          </a:xfrm>
          <a:prstGeom prst="rect">
            <a:avLst/>
          </a:prstGeom>
          <a:solidFill>
            <a:srgbClr val="9ECDE0"/>
          </a:solidFill>
          <a:ln/>
        </p:spPr>
      </p:sp>
      <p:sp>
        <p:nvSpPr>
          <p:cNvPr id="25" name="Text 20"/>
          <p:cNvSpPr/>
          <p:nvPr/>
        </p:nvSpPr>
        <p:spPr>
          <a:xfrm>
            <a:off x="453542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DE0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17720" y="914400"/>
            <a:ext cx="1188720" cy="1188720"/>
          </a:xfrm>
          <a:prstGeom prst="rect">
            <a:avLst/>
          </a:prstGeom>
          <a:solidFill>
            <a:srgbClr val="1BB8C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987552"/>
            <a:ext cx="685800" cy="6858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166360" y="2103120"/>
            <a:ext cx="91440" cy="457200"/>
          </a:xfrm>
          <a:prstGeom prst="rect">
            <a:avLst/>
          </a:prstGeom>
          <a:solidFill>
            <a:srgbClr val="1BB8CF"/>
          </a:solidFill>
          <a:ln/>
        </p:spPr>
      </p:sp>
      <p:sp>
        <p:nvSpPr>
          <p:cNvPr id="29" name="Text 23"/>
          <p:cNvSpPr/>
          <p:nvPr/>
        </p:nvSpPr>
        <p:spPr>
          <a:xfrm>
            <a:off x="461772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B8CF"/>
                </a:solidFill>
              </a:rPr>
              <a:t>4. Plan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61772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</a:rPr>
              <a:t>AI drafts the tech architecture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806440" y="1444752"/>
            <a:ext cx="228600" cy="109728"/>
          </a:xfrm>
          <a:prstGeom prst="rect">
            <a:avLst/>
          </a:prstGeom>
          <a:solidFill>
            <a:srgbClr val="9ECDE0"/>
          </a:solidFill>
          <a:ln/>
        </p:spPr>
      </p:sp>
      <p:sp>
        <p:nvSpPr>
          <p:cNvPr id="32" name="Text 26"/>
          <p:cNvSpPr/>
          <p:nvPr/>
        </p:nvSpPr>
        <p:spPr>
          <a:xfrm>
            <a:off x="595274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DE0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035040" y="914400"/>
            <a:ext cx="1188720" cy="118872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28" y="987552"/>
            <a:ext cx="685800" cy="68580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583680" y="2103120"/>
            <a:ext cx="9144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6" name="Text 29"/>
          <p:cNvSpPr/>
          <p:nvPr/>
        </p:nvSpPr>
        <p:spPr>
          <a:xfrm>
            <a:off x="603504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5. Tasks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03504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</a:rPr>
              <a:t>Break plan into actionable tasks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7223760" y="1444752"/>
            <a:ext cx="228600" cy="109728"/>
          </a:xfrm>
          <a:prstGeom prst="rect">
            <a:avLst/>
          </a:prstGeom>
          <a:solidFill>
            <a:srgbClr val="9ECDE0"/>
          </a:solidFill>
          <a:ln/>
        </p:spPr>
      </p:sp>
      <p:sp>
        <p:nvSpPr>
          <p:cNvPr id="39" name="Text 32"/>
          <p:cNvSpPr/>
          <p:nvPr/>
        </p:nvSpPr>
        <p:spPr>
          <a:xfrm>
            <a:off x="7370064" y="133502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DE0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452360" y="914400"/>
            <a:ext cx="1188720" cy="1188720"/>
          </a:xfrm>
          <a:prstGeom prst="rect">
            <a:avLst/>
          </a:prstGeom>
          <a:solidFill>
            <a:srgbClr val="00A88A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248" y="987552"/>
            <a:ext cx="685800" cy="68580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001000" y="2103120"/>
            <a:ext cx="91440" cy="457200"/>
          </a:xfrm>
          <a:prstGeom prst="rect">
            <a:avLst/>
          </a:prstGeom>
          <a:solidFill>
            <a:srgbClr val="00A88A"/>
          </a:solidFill>
          <a:ln/>
        </p:spPr>
      </p:sp>
      <p:sp>
        <p:nvSpPr>
          <p:cNvPr id="43" name="Text 35"/>
          <p:cNvSpPr/>
          <p:nvPr/>
        </p:nvSpPr>
        <p:spPr>
          <a:xfrm>
            <a:off x="7452360" y="257860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8A"/>
                </a:solidFill>
              </a:rPr>
              <a:t>6. Implement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7452360" y="29992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8"/>
                </a:solidFill>
              </a:rPr>
              <a:t>AI writes the actual code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ECDE0"/>
                </a:solidFill>
              </a:rPr>
              <a:t>Each step builds on the previous — no step is skipped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&amp; 2: Constitution + Specify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📜  Step 1: Constitution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Set the project's rules &amp; principles before writing any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657600" cy="15544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67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/speckit.constitution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• All features must have unit tests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• Security-first approach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• No direct DB calls from UI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• Follow REST standards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B5CC"/>
                </a:solidFill>
              </a:rPr>
              <a:t>Think: the project's "house rules"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D7E9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Step 2: Specify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Describe your feature in plain language — what it does, not how.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103120"/>
            <a:ext cx="3657600" cy="1554480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1671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 "Meeting Room Booking"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4920" y="2606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→ User story: As an employee, I want to book a meeting room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→ Acceptance criteria generated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→ Constraints captured automatically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B5CC"/>
                </a:solidFill>
              </a:rPr>
              <a:t>Focus on WHAT, not HOW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&amp; 4: Clarify +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149DB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❓  Step 3: Clarify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Speckit asks smart questions to fill in the blanks you missed.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657600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Q: Should overlapping bookings be allowed?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A: No — first come, first served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3657600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Q: Can bookings be cancelled?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A: Yes, by the owner 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3657600" cy="74980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94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Q: Max booking duration?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A: 4 hours per slot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B5CC"/>
                </a:solidFill>
              </a:rPr>
              <a:t>Catches missing details before building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1BB8C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🏗️  Step 4: Plan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AI drafts the full technical architecture — you just review.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011680"/>
            <a:ext cx="3657600" cy="56692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039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Frontend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295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React — room listing, booking form, calendar 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2670048"/>
            <a:ext cx="3657600" cy="56692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Backend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953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Node/Express — REST API, conflict checks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3328416"/>
            <a:ext cx="3657600" cy="56692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355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Database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PostgreSQL — rooms, bookings tables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986784"/>
            <a:ext cx="3657600" cy="566928"/>
          </a:xfrm>
          <a:prstGeom prst="rect">
            <a:avLst/>
          </a:prstGeom>
          <a:solidFill>
            <a:srgbClr val="152535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4014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Services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4270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BookingService, RoomService, ConflictValidator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8348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B5CC"/>
                </a:solidFill>
              </a:rPr>
              <a:t>Decides HOW to build — not you!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6: Tasks + Implement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9319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Step 5: Tasks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Your plan becomes an ordered to-do list everyone can follow.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274320" cy="274320"/>
          </a:xfrm>
          <a:prstGeom prst="rect">
            <a:avLst/>
          </a:prstGeom>
          <a:solidFill>
            <a:srgbClr val="1E406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Create room listing API endpoint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50592"/>
            <a:ext cx="274320" cy="274320"/>
          </a:xfrm>
          <a:prstGeom prst="rect">
            <a:avLst/>
          </a:prstGeom>
          <a:solidFill>
            <a:srgbClr val="1E406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450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Build room calendar widget (UI)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solidFill>
            <a:srgbClr val="1E406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895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Implement booking form with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28416"/>
            <a:ext cx="274320" cy="274320"/>
          </a:xfrm>
          <a:prstGeom prst="rect">
            <a:avLst/>
          </a:prstGeom>
          <a:solidFill>
            <a:srgbClr val="1E406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28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Add conflict detection logic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274320" cy="274320"/>
          </a:xfrm>
          <a:prstGeom prst="rect">
            <a:avLst/>
          </a:prstGeom>
          <a:solidFill>
            <a:srgbClr val="1E406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Write unit tests for BookingService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06240"/>
            <a:ext cx="274320" cy="274320"/>
          </a:xfrm>
          <a:prstGeom prst="rect">
            <a:avLst/>
          </a:prstGeom>
          <a:solidFill>
            <a:srgbClr val="1E406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Create cancel/rebook endpoint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A88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Step 6: Implement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AI writes the actual code for each task. You review and approve.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2011680"/>
            <a:ext cx="3657600" cy="18288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/speckit.implement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Validating prerequisites...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633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Generating BookingService...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B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BookingService.js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B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/api/bookings.js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B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Tests written: 12 passing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913632"/>
            <a:ext cx="3657600" cy="548640"/>
          </a:xfrm>
          <a:prstGeom prst="rect">
            <a:avLst/>
          </a:prstGeom>
          <a:solidFill>
            <a:srgbClr val="2A2008"/>
          </a:solidFill>
          <a:ln w="12700">
            <a:solidFill>
              <a:srgbClr val="7B5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136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5800"/>
                </a:solidFill>
              </a:rPr>
              <a:t>⚠  Humans still review all AI-generated code before merging!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Live Demo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9A7"/>
                </a:solidFill>
              </a:rPr>
              <a:t>Feature: Meeting Room Booking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92024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2024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Specify the 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/speckit.specify "Meeting Room Booking"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0E6"/>
                </a:solidFill>
              </a:rPr>
              <a:t>Write the feature in plain words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88036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88036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8803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Clarify constraints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/speckit.clarify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0E6"/>
                </a:solidFill>
              </a:rPr>
              <a:t>Answer: no double-booking, cancel allowed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84048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8404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0E6"/>
                </a:solidFill>
              </a:rPr>
              <a:t>React UI + Node backend selected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92024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92024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21808" y="1956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 tasks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194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/speckit.tasks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21808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0E6"/>
                </a:solidFill>
              </a:rPr>
              <a:t>Tasks created automatically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88036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8803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Implement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3154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/speckit.implement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21808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0E6"/>
                </a:solidFill>
              </a:rPr>
              <a:t>AI writes the code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420624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840480"/>
            <a:ext cx="411480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8404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3877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in UI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a room → try conflict → cancel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21808" y="4343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D0E6"/>
                </a:solidFill>
              </a:rPr>
              <a:t>See it working live!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22960" cy="17830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For Everyone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PMs, designers &amp; domain experts contribute specs in plain language — no coding needed.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023360" cy="178308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60120"/>
            <a:ext cx="822960" cy="1783080"/>
          </a:xfrm>
          <a:prstGeom prst="rect">
            <a:avLst/>
          </a:prstGeom>
          <a:solidFill>
            <a:srgbClr val="149DB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63040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124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9DB5"/>
                </a:solidFill>
              </a:rPr>
              <a:t>Faster Delivery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1500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AI generates plans, tasks &amp; code from your spec — dramatically reducing development time.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971800"/>
            <a:ext cx="4023360" cy="178308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2971800"/>
            <a:ext cx="822960" cy="178308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74720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Higher Quality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Built-in clarification &amp; review steps catch problems before a line of code is written.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4023360" cy="1783080"/>
          </a:xfrm>
          <a:prstGeom prst="rect">
            <a:avLst/>
          </a:prstGeom>
          <a:solidFill>
            <a:srgbClr val="0F203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2971800"/>
            <a:ext cx="822960" cy="1783080"/>
          </a:xfrm>
          <a:prstGeom prst="rect">
            <a:avLst/>
          </a:prstGeom>
          <a:solidFill>
            <a:srgbClr val="00A88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474720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A"/>
                </a:solidFill>
              </a:rPr>
              <a:t>AI-Powered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1500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Works with GitHub Copilot, GPT-4, Claude &amp; other models — pick your preferred AI.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371600" y="4736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B5CC"/>
                </a:solidFill>
              </a:rPr>
              <a:t>"Everybody can code" — Speckit's founding principle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749808"/>
          </a:xfrm>
          <a:prstGeom prst="rect">
            <a:avLst/>
          </a:prstGeom>
          <a:solidFill>
            <a:srgbClr val="0F2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9611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5"/>
                </a:solidFill>
              </a:rPr>
              <a:t>Q: How is this different from just using GitHub Copilot?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C"/>
                </a:solidFill>
              </a:rPr>
              <a:t>A: Copilot writes code from context. Speckit enforces a full workflow (spec → plan → tasks) so everyone aligns first.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749808"/>
          </a:xfrm>
          <a:prstGeom prst="rect">
            <a:avLst/>
          </a:prstGeom>
          <a:solidFill>
            <a:srgbClr val="0F2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373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5"/>
                </a:solidFill>
              </a:rPr>
              <a:t>Q: Do developers still review AI-generated code?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01168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C"/>
                </a:solidFill>
              </a:rPr>
              <a:t>A: Always. Speckit accelerates, but humans review, test, and approve everything before merging.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749808"/>
          </a:xfrm>
          <a:prstGeom prst="rect">
            <a:avLst/>
          </a:prstGeom>
          <a:solidFill>
            <a:srgbClr val="0F2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4203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603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5"/>
                </a:solidFill>
              </a:rPr>
              <a:t>Q: What if the spec changes mid-project?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283464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C"/>
                </a:solidFill>
              </a:rPr>
              <a:t>A: Update the spec and rerun commands. Speckit regenerates plans and tasks — the process is iterative.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8412480" cy="749808"/>
          </a:xfrm>
          <a:prstGeom prst="rect">
            <a:avLst/>
          </a:prstGeom>
          <a:solidFill>
            <a:srgbClr val="0F2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6499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832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5"/>
                </a:solidFill>
              </a:rPr>
              <a:t>Q: Can non-tech users actually run these commands?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C"/>
                </a:solidFill>
              </a:rPr>
              <a:t>A: Yes — slash commands run in GitHub Copilot Chat in plain text. No coding experience required.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749808"/>
          </a:xfrm>
          <a:prstGeom prst="rect">
            <a:avLst/>
          </a:prstGeom>
          <a:solidFill>
            <a:srgbClr val="0F203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87952"/>
            <a:ext cx="3200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062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E8F5"/>
                </a:solidFill>
              </a:rPr>
              <a:t>Q: Is Speckit production-ready?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48056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5CC"/>
                </a:solidFill>
              </a:rPr>
              <a:t>A: It's open-source and actively evolving. Think of it as a smart assistant — it won't deploy code without human review.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Speckit workflow:  Constitution → Specify → Clarify → Plan → Tasks → Implement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75564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Write what you want in plain language — AI figures out the how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Every role contributes: PMs, domain experts, and developers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85292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Built-in quality: clarification &amp; review at every step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3401568"/>
            <a:ext cx="32004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Faster, more consistent development with "everybody can code"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A7"/>
                </a:solidFill>
              </a:rPr>
              <a:t>Questions?  Let's talk!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D4E8"/>
                </a:solidFill>
              </a:rPr>
              <a:t>github.com/github/spec-kit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Office PowerPoint</Application>
  <PresentationFormat>On-screen Show (16:9)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Speckit: Everyday AI-Driven Development</dc:title>
  <dc:subject>PptxGenJS Presentation</dc:subject>
  <dc:creator>PptxGenJS</dc:creator>
  <cp:lastModifiedBy>Jitendra Kumar Pandey</cp:lastModifiedBy>
  <cp:revision>2</cp:revision>
  <dcterms:created xsi:type="dcterms:W3CDTF">2026-04-05T18:02:02Z</dcterms:created>
  <dcterms:modified xsi:type="dcterms:W3CDTF">2026-04-05T18:16:08Z</dcterms:modified>
</cp:coreProperties>
</file>